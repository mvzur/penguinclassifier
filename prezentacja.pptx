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72" r:id="rId1"/>
    <p:sldMasterId id="2147483684" r:id="rId2"/>
  </p:sldMasterIdLst>
  <p:notesMasterIdLst>
    <p:notesMasterId r:id="rId9"/>
  </p:notesMasterIdLst>
  <p:sldIdLst>
    <p:sldId id="256" r:id="rId3"/>
    <p:sldId id="261" r:id="rId4"/>
    <p:sldId id="259" r:id="rId5"/>
    <p:sldId id="258" r:id="rId6"/>
    <p:sldId id="262" r:id="rId7"/>
    <p:sldId id="260" r:id="rId8"/>
  </p:sldIdLst>
  <p:sldSz cx="13433425" cy="75565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80"/>
        <p:guide pos="423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D6F0A855-F258-F8B8-1019-4FCE47018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682C352-136E-45F5-B773-6ABC90B8E12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l-PL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altLang="pl-PL" noProof="0">
                <a:sym typeface="Helvetica Neue" charset="0"/>
              </a:rPr>
              <a:t>Second level</a:t>
            </a:r>
          </a:p>
          <a:p>
            <a:pPr lvl="2"/>
            <a:r>
              <a:rPr lang="en-US" altLang="pl-PL" noProof="0">
                <a:sym typeface="Helvetica Neue" charset="0"/>
              </a:rPr>
              <a:t>Third level</a:t>
            </a:r>
          </a:p>
          <a:p>
            <a:pPr lvl="3"/>
            <a:r>
              <a:rPr lang="en-US" altLang="pl-PL" noProof="0">
                <a:sym typeface="Helvetica Neue" charset="0"/>
              </a:rPr>
              <a:t>Fourth level</a:t>
            </a:r>
          </a:p>
          <a:p>
            <a:pPr lvl="4"/>
            <a:r>
              <a:rPr lang="en-US" altLang="pl-PL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4E3E0-98DE-000F-AF9C-FEF71DFE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4E3A7-4FA0-4780-A752-9FF47A1DF80D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5C4CC-7722-EE47-AEA5-97FCD9EF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166E0-F826-3B6D-65CE-E4980201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E4403-75FE-43D7-BB8C-E28D6866A030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05018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FF2FD-0378-8ED0-4F04-86B9BEF3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1D50B-4C0C-48F9-AC5B-4D373E2EFFF2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20364-FA4E-492C-B571-19C5B63D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E9389-82AF-7559-6CED-A44A6FD9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ABF53-EDD2-4D91-96FD-99DA3EFF2CBA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83773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7462-58B9-EB5A-8041-5783BC9C9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1CD58-441D-4371-8BDF-6DF8C4B0912C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EB4E-80E5-5DFD-5A27-CB85C997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9F6D-6273-828A-623B-DA94DDD7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C54117-747F-453C-B5D2-7DFA0806E49F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237009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0D5477-C9F5-7837-6BFC-7E264CA9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06706-1146-4C3A-AB0E-2901529F1935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64C2933-5A84-025E-4498-ACA4340D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A16D832-72B8-1C3E-DB45-E4626782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C260C-CD54-4A79-804E-872311C4FAF0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1142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0916CEB-BD71-E874-4D1C-AB101FA6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0FABA-5D72-4368-96CF-E8F59637C5D4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607DF8-10AA-0340-067D-C8E727A0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14B0EA2-D3D2-276B-5743-DA8495E84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05C33-1B44-4321-AFD5-5223F731DEF4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22970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9441397-4B9E-1B58-5BF5-3D51587A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09EBB-64AA-4B79-B8B9-2525AB4B7FA7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F1C72D-0F9F-478E-68F6-EF24456C8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A58D2-CA96-B2DE-F88D-8920EEC2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0D8529-FB56-4556-BECA-9DB9C07F9CF7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15899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6977ED4-749F-1238-E17C-5004BF08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29EBE-96F8-4B1C-A3B7-F9F8358D7D30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C400F29-BE61-5BA2-D111-5C5A3C50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E24AC9F-AB34-6ADB-DC89-673C2C6C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4AEF5-6A59-482B-B994-E566A2155BDF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40791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C67BDE9-4BE4-1983-295E-08338CCA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220B9-0408-4DC2-9A46-537437011419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4202F4-DA17-F700-A2A0-92E66EBC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FD6375-7577-4E03-6559-6171971F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1C222-BF2C-4249-823E-8BEA60343276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06868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863805B-E9E8-E7A8-83D0-4846F103E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4EE59-5E18-4084-9F3B-5F7C7563B619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FBB59D-E88C-6086-826B-78F72202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17C60D-02F9-77A4-212D-D1940257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B261F-D664-455D-A76C-9CBA616C2A20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93247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484B6-2B70-F4C3-62F0-409A1C16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2E5F1-B34B-49C3-B186-3DC98A8F4C61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590B1-40A9-CD38-90FC-AFAFB431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96B9E-00CC-0577-B11B-1984EBD2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8B14D8-7854-433B-A242-8A38C0329209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92422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501CB-7E69-0236-3651-F2D9DA7D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F80E1-DE09-4988-A0E5-49F38AC4C447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30490-B464-B2F1-8FA8-48158745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20970-98C7-4B17-5A5D-4D09BBD0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902C9B-618B-4538-B265-293EB3DAA52D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521479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0087B-B851-D6C9-FF24-51125E4E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A7BD-990E-45C9-A868-2F661B2C1B83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AD3C-F38A-87C5-8313-CEF66EB5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3F985-B5E4-CBD7-65D5-D0B9E5A2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A29025-D740-47E4-92E3-DBC2EC56C92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195471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20FD5-9A8E-19A0-F93F-6442D962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F6C1D-0DA4-48B7-93FC-574203F0464B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53670-A896-8EB1-C513-93E04F9E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CF65D-684C-D333-1FB0-518EC05E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3D017-7D26-482A-B167-B647A8D345C6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951152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77B57-4CA9-1D48-D981-DAA4C81A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9D025-EAF1-463E-8CF2-5C0595335AAF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7AD1D-533E-234F-D2F6-A04F2BCC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A6212-B6EE-BE68-B106-7277236B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8D638-D458-4173-B592-6DCA5F03FE1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068452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5FD3979-F2E2-AE16-EE21-860A914B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01155-2245-493E-807A-F5EC3A3DB3BE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0D6C4B-7DEE-A72F-3A6B-90ED83D3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DC59B8-07BA-4360-37C9-D57B28F8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E10BB-B3D2-4E63-934A-A83F74AAA1F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90296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34A8D99-C586-17BF-FAEF-3AA4AC79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D071E-933B-4C71-A6FF-F8D8018E505F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39CAD6E-9BC1-6265-B5AC-C739C6E9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C4F30C-A489-606D-FE0B-6E9C1960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E5F14F-CEA7-4C6D-9383-1ED0DBA2888A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699314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7D62C67-2076-48F8-6C80-F30AF8EC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0F2A5-08C2-40A9-87CD-40541E287E02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43D17A4-926B-F742-68AF-9D26FD0C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9F9193-A025-3C25-472A-CD76E3CF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6BD510-F6DD-48DD-8242-DC9919191A87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599434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D9AA64-8540-D66E-1481-8D6FDCBD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EC896-FF97-4F9C-9981-F8793DAD3D89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FD496F2-F5E3-6A7D-954F-E548F88E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53AEDA1-8802-9D22-FA70-40C7ED34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88BBC8-8AC2-4773-AC78-927DBB682057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420087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86B998B-E562-7910-589C-16545B30C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7DBC8-C59F-4F6A-B78F-65DAD499239F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E589987-E846-F38C-AFCC-F579F3BB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345B9A-2C4D-4AE4-1088-7C879971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1C63C-6142-4699-A510-1343A3CF0A02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405908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6C230C-5BB1-E471-DED6-95A88B69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CEB97-95CC-42D0-9BA3-0E5A4E001339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A42E17-A881-2AE8-E464-476455A0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9E8569-9049-421D-EAE5-ED7BF877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03CB7-76AC-46B4-9F78-21EB81C6D22D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49930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4A02-CCD4-3909-9C71-92457712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C8C09-B0B6-4E62-B088-7077578D5862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B47F1-CF86-B4B5-1D69-35999030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6C11-6362-269A-B3FE-49CEB5EE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59DFCE-EC92-41BE-866D-A9DF96DE67A0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5471425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89466-6778-6BE0-9F50-B0C0F1CB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3EB04-5DE4-4B79-A2A0-63073EA0BF12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0601A-BAC8-E0A3-1B55-2B66742B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30402-411B-6E2C-4970-A3013F57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548EF-9151-4237-A653-A8019F91F562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00424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B66B71F-97A7-145F-61AF-EF9E934108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AB228E1-E942-0643-29C5-F4D1704D14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08C4-548B-4BCF-AD52-8A6982987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5CBFE37-6599-4139-A793-726F3966A036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28BF4-0903-4F69-BB5F-2EF7E0074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8D874-C296-4854-9F7B-015B1B7C0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fld id="{E470D5C1-4B7D-4AAC-A737-43B30E3F2B11}" type="slidenum">
              <a:rPr lang="en-US" altLang="pl-PL"/>
              <a:pPr/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C9982590-7580-867F-B1BD-5B84627B39F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A125C6B0-4FEC-B5A7-AF60-62438B7FF4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10E9-909A-4175-BC36-9C9947FC2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48F924-AB15-48C4-AC4A-E7BA920012A3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47C4B-5A6A-40EA-BE76-64D5DBD85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98E38-02C6-4206-8187-09BD3132A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fld id="{4FEC7B58-B347-4EA7-8B9D-18D0D9D4CE38}" type="slidenum">
              <a:rPr lang="en-US" altLang="pl-PL"/>
              <a:pPr/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A2A4618-7E9D-427C-9E62-C9846A4601AA}"/>
              </a:ext>
            </a:extLst>
          </p:cNvPr>
          <p:cNvSpPr txBox="1"/>
          <p:nvPr/>
        </p:nvSpPr>
        <p:spPr>
          <a:xfrm>
            <a:off x="1964" y="1883102"/>
            <a:ext cx="1342220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7200" err="1">
                <a:latin typeface="Arial"/>
                <a:cs typeface="Arial"/>
              </a:rPr>
              <a:t>Penguin</a:t>
            </a:r>
            <a:r>
              <a:rPr lang="pl-PL" sz="7200">
                <a:latin typeface="Arial"/>
                <a:cs typeface="Arial"/>
              </a:rPr>
              <a:t> </a:t>
            </a:r>
            <a:r>
              <a:rPr lang="pl-PL" sz="7200" err="1">
                <a:latin typeface="Arial"/>
                <a:cs typeface="Arial"/>
              </a:rPr>
              <a:t>Classifier</a:t>
            </a:r>
            <a:endParaRPr lang="pl-PL" sz="7200" err="1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20173D6-9F92-A8FF-E4AA-179EB7999E76}"/>
              </a:ext>
            </a:extLst>
          </p:cNvPr>
          <p:cNvSpPr txBox="1"/>
          <p:nvPr/>
        </p:nvSpPr>
        <p:spPr>
          <a:xfrm>
            <a:off x="975841" y="5062001"/>
            <a:ext cx="392711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latin typeface="Arial"/>
                <a:cs typeface="Arial"/>
              </a:rPr>
              <a:t>Łukasz Zięba</a:t>
            </a:r>
          </a:p>
          <a:p>
            <a:r>
              <a:rPr lang="pl-PL">
                <a:latin typeface="Arial"/>
                <a:cs typeface="Arial"/>
              </a:rPr>
              <a:t>Maksymilian Mazur</a:t>
            </a:r>
            <a:endParaRPr lang="pl-PL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6C83-8304-22B9-1F5D-8F87E452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659B7B-EB85-05F4-D8C6-E9921796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121" y="401638"/>
            <a:ext cx="10368379" cy="1482627"/>
          </a:xfrm>
        </p:spPr>
        <p:txBody>
          <a:bodyPr/>
          <a:lstStyle/>
          <a:p>
            <a:r>
              <a:rPr lang="pl-PL" b="1">
                <a:ea typeface="Calibri Light"/>
                <a:cs typeface="Calibri Light"/>
              </a:rPr>
              <a:t>Problem</a:t>
            </a:r>
            <a:endParaRPr lang="pl-PL" b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806A70-EBE7-F90C-2227-9A774BC7A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78" y="1885474"/>
            <a:ext cx="4905515" cy="4794250"/>
          </a:xfrm>
        </p:spPr>
        <p:txBody>
          <a:bodyPr/>
          <a:lstStyle/>
          <a:p>
            <a:pPr marL="0" indent="0">
              <a:buNone/>
            </a:pPr>
            <a:r>
              <a:rPr lang="pl-PL">
                <a:ea typeface="Calibri" panose="020F0502020204030204"/>
                <a:cs typeface="Calibri" panose="020F0502020204030204"/>
              </a:rPr>
              <a:t>Wytrenowanie klasyfikatora na </a:t>
            </a:r>
            <a:r>
              <a:rPr lang="pl-PL" err="1">
                <a:ea typeface="Calibri" panose="020F0502020204030204"/>
                <a:cs typeface="Calibri" panose="020F0502020204030204"/>
              </a:rPr>
              <a:t>datasecie</a:t>
            </a:r>
            <a:r>
              <a:rPr lang="pl-PL">
                <a:ea typeface="Calibri" panose="020F0502020204030204"/>
                <a:cs typeface="Calibri" panose="020F0502020204030204"/>
              </a:rPr>
              <a:t> zawierającym pomiary cech fizycznych gatunków pingwinów.</a:t>
            </a:r>
            <a:endParaRPr lang="pl-PL"/>
          </a:p>
          <a:p>
            <a:pPr marL="0" indent="0">
              <a:buNone/>
            </a:pPr>
            <a:endParaRPr lang="pl-PL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pl-PL">
                <a:ea typeface="Calibri" panose="020F0502020204030204"/>
                <a:cs typeface="Calibri" panose="020F0502020204030204"/>
              </a:rPr>
              <a:t>Kompresja modelu (</a:t>
            </a:r>
            <a:r>
              <a:rPr lang="pl-PL" err="1">
                <a:ea typeface="Calibri" panose="020F0502020204030204"/>
                <a:cs typeface="Calibri" panose="020F0502020204030204"/>
              </a:rPr>
              <a:t>pruning</a:t>
            </a:r>
            <a:r>
              <a:rPr lang="pl-PL">
                <a:ea typeface="Calibri" panose="020F0502020204030204"/>
                <a:cs typeface="Calibri" panose="020F0502020204030204"/>
              </a:rPr>
              <a:t>, kwantyzacja) i zbadanie jej wpływu na jego skuteczność.</a:t>
            </a:r>
          </a:p>
        </p:txBody>
      </p:sp>
      <p:pic>
        <p:nvPicPr>
          <p:cNvPr id="6" name="Obraz 5" descr="Obraz zawierający ptak, ptak wodny, pingwin, na wolnym powietrzu&#10;&#10;Zawartość wygenerowana przez AI może być niepoprawna.">
            <a:extLst>
              <a:ext uri="{FF2B5EF4-FFF2-40B4-BE49-F238E27FC236}">
                <a16:creationId xmlns:a16="http://schemas.microsoft.com/office/drawing/2014/main" id="{4DBF6E96-A6EC-FC6F-48D3-EE89575B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20" y="600075"/>
            <a:ext cx="6735817" cy="642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9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8242BE-CDD2-C70B-4BF8-A73564C6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498" y="401638"/>
            <a:ext cx="10224528" cy="1482627"/>
          </a:xfrm>
        </p:spPr>
        <p:txBody>
          <a:bodyPr/>
          <a:lstStyle/>
          <a:p>
            <a:r>
              <a:rPr lang="pl-PL" b="1" err="1">
                <a:ea typeface="Calibri Light"/>
                <a:cs typeface="Calibri Light"/>
              </a:rPr>
              <a:t>Dataset</a:t>
            </a:r>
            <a:endParaRPr lang="pl-PL" b="1" err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0C8B36-D59E-13A2-5474-66F7723C6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l-PL" b="1" i="1"/>
              <a:t>Palmer </a:t>
            </a:r>
            <a:r>
              <a:rPr lang="pl-PL" b="1" i="1" err="1"/>
              <a:t>Archipelago</a:t>
            </a:r>
            <a:r>
              <a:rPr lang="pl-PL" b="1" i="1"/>
              <a:t> (</a:t>
            </a:r>
            <a:r>
              <a:rPr lang="pl-PL" b="1" i="1" err="1"/>
              <a:t>Antarctica</a:t>
            </a:r>
            <a:r>
              <a:rPr lang="pl-PL" b="1" i="1"/>
              <a:t>) </a:t>
            </a:r>
            <a:r>
              <a:rPr lang="pl-PL" b="1" i="1" err="1"/>
              <a:t>penguin</a:t>
            </a:r>
            <a:r>
              <a:rPr lang="pl-PL" b="1" i="1"/>
              <a:t> data:</a:t>
            </a:r>
          </a:p>
          <a:p>
            <a:r>
              <a:rPr lang="pl-PL">
                <a:ea typeface="Calibri" panose="020F0502020204030204"/>
                <a:cs typeface="Calibri" panose="020F0502020204030204"/>
              </a:rPr>
              <a:t>344 osobników pingwinów</a:t>
            </a:r>
          </a:p>
          <a:p>
            <a:r>
              <a:rPr lang="pl-PL">
                <a:ea typeface="Calibri" panose="020F0502020204030204"/>
                <a:cs typeface="Calibri" panose="020F0502020204030204"/>
              </a:rPr>
              <a:t>3 gatunki</a:t>
            </a:r>
          </a:p>
          <a:p>
            <a:r>
              <a:rPr lang="pl-PL">
                <a:ea typeface="Calibri" panose="020F0502020204030204"/>
                <a:cs typeface="Calibri" panose="020F0502020204030204"/>
              </a:rPr>
              <a:t>6 cech</a:t>
            </a:r>
          </a:p>
          <a:p>
            <a:pPr marL="0" indent="0">
              <a:buNone/>
            </a:pPr>
            <a:endParaRPr lang="pl-PL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pl-PL">
                <a:ea typeface="Calibri" panose="020F0502020204030204"/>
                <a:cs typeface="Calibri" panose="020F0502020204030204"/>
              </a:rPr>
              <a:t>Zamiennik </a:t>
            </a:r>
            <a:r>
              <a:rPr lang="pl-PL" err="1">
                <a:ea typeface="Calibri" panose="020F0502020204030204"/>
                <a:cs typeface="Calibri" panose="020F0502020204030204"/>
              </a:rPr>
              <a:t>datasetu</a:t>
            </a:r>
            <a:r>
              <a:rPr lang="pl-PL">
                <a:ea typeface="Calibri" panose="020F0502020204030204"/>
                <a:cs typeface="Calibri" panose="020F0502020204030204"/>
              </a:rPr>
              <a:t> </a:t>
            </a:r>
            <a:r>
              <a:rPr lang="pl-PL" b="1" err="1">
                <a:ea typeface="Calibri" panose="020F0502020204030204"/>
                <a:cs typeface="Calibri" panose="020F0502020204030204"/>
              </a:rPr>
              <a:t>Iris</a:t>
            </a:r>
            <a:endParaRPr lang="pl-PL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pl-PL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2097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F0B026-4EE9-A47B-CC36-C2D1CA72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121" y="401638"/>
            <a:ext cx="10368379" cy="1482627"/>
          </a:xfrm>
        </p:spPr>
        <p:txBody>
          <a:bodyPr/>
          <a:lstStyle/>
          <a:p>
            <a:r>
              <a:rPr lang="pl-PL" b="1">
                <a:ea typeface="Calibri Light"/>
                <a:cs typeface="Calibri Light"/>
              </a:rPr>
              <a:t>Model</a:t>
            </a:r>
            <a:endParaRPr lang="pl-PL" b="1" err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95D46C-A22D-5963-C172-3995299CF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i="1">
                <a:ea typeface="Calibri" panose="020F0502020204030204"/>
                <a:cs typeface="Calibri" panose="020F0502020204030204"/>
              </a:rPr>
              <a:t>CNN </a:t>
            </a:r>
            <a:r>
              <a:rPr lang="pl-PL" i="1">
                <a:solidFill>
                  <a:srgbClr val="000000"/>
                </a:solidFill>
                <a:ea typeface="+mn-lt"/>
                <a:cs typeface="+mn-lt"/>
              </a:rPr>
              <a:t>(</a:t>
            </a:r>
            <a:r>
              <a:rPr lang="pl-PL" i="1" err="1">
                <a:solidFill>
                  <a:srgbClr val="000000"/>
                </a:solidFill>
                <a:ea typeface="+mn-lt"/>
                <a:cs typeface="+mn-lt"/>
              </a:rPr>
              <a:t>Convolutional</a:t>
            </a:r>
            <a:r>
              <a:rPr lang="pl-PL" i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pl-PL" i="1" err="1">
                <a:solidFill>
                  <a:srgbClr val="000000"/>
                </a:solidFill>
                <a:ea typeface="+mn-lt"/>
                <a:cs typeface="+mn-lt"/>
              </a:rPr>
              <a:t>Neural</a:t>
            </a:r>
            <a:r>
              <a:rPr lang="pl-PL" i="1">
                <a:solidFill>
                  <a:srgbClr val="000000"/>
                </a:solidFill>
                <a:ea typeface="+mn-lt"/>
                <a:cs typeface="+mn-lt"/>
              </a:rPr>
              <a:t> Network):</a:t>
            </a:r>
          </a:p>
          <a:p>
            <a:pPr marL="457200" indent="-457200"/>
            <a:r>
              <a:rPr lang="pl-PL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Wykrywanie lokalnych wzorców </a:t>
            </a:r>
            <a:r>
              <a:rPr lang="pl-PL">
                <a:solidFill>
                  <a:srgbClr val="000000"/>
                </a:solidFill>
                <a:ea typeface="+mn-lt"/>
                <a:cs typeface="+mn-lt"/>
              </a:rPr>
              <a:t>(krawędzie, tekstury, kształty)</a:t>
            </a:r>
          </a:p>
          <a:p>
            <a:pPr marL="457200" indent="-457200"/>
            <a:r>
              <a:rPr lang="pl-PL">
                <a:solidFill>
                  <a:srgbClr val="000000"/>
                </a:solidFill>
                <a:ea typeface="+mn-lt"/>
                <a:cs typeface="+mn-lt"/>
              </a:rPr>
              <a:t>Uczenie się poprzez optymalizację filtrów</a:t>
            </a:r>
          </a:p>
          <a:p>
            <a:pPr marL="457200" indent="-457200"/>
            <a:r>
              <a:rPr lang="pl-PL">
                <a:solidFill>
                  <a:srgbClr val="000000"/>
                </a:solidFill>
                <a:ea typeface="+mn-lt"/>
                <a:cs typeface="+mn-lt"/>
              </a:rPr>
              <a:t>Wzór połączeń przypomina organizację kory wzrokowej</a:t>
            </a:r>
          </a:p>
        </p:txBody>
      </p:sp>
    </p:spTree>
    <p:extLst>
      <p:ext uri="{BB962C8B-B14F-4D97-AF65-F5344CB8AC3E}">
        <p14:creationId xmlns:p14="http://schemas.microsoft.com/office/powerpoint/2010/main" val="79063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6F3A9-0899-043C-2E3C-22339774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98604A-CF28-0ADA-5323-F3577EC7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925" y="401638"/>
            <a:ext cx="10401575" cy="1482627"/>
          </a:xfrm>
        </p:spPr>
        <p:txBody>
          <a:bodyPr/>
          <a:lstStyle/>
          <a:p>
            <a:r>
              <a:rPr lang="pl-PL" b="1" err="1">
                <a:ea typeface="Calibri Light"/>
                <a:cs typeface="Calibri Light"/>
              </a:rPr>
              <a:t>Pipeline</a:t>
            </a:r>
            <a:endParaRPr lang="pl-PL" b="1" err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3F40F1-3439-C6D7-0EF8-86F218ADC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654218"/>
            <a:ext cx="11585575" cy="3115027"/>
          </a:xfrm>
        </p:spPr>
        <p:txBody>
          <a:bodyPr/>
          <a:lstStyle/>
          <a:p>
            <a:r>
              <a:rPr lang="pl-PL" err="1">
                <a:ea typeface="Calibri"/>
                <a:cs typeface="Calibri"/>
              </a:rPr>
              <a:t>Preprocessing</a:t>
            </a:r>
            <a:endParaRPr lang="pl-PL">
              <a:ea typeface="Calibri"/>
              <a:cs typeface="Calibri"/>
            </a:endParaRPr>
          </a:p>
          <a:p>
            <a:r>
              <a:rPr lang="pl-PL">
                <a:ea typeface="Calibri"/>
                <a:cs typeface="Calibri"/>
              </a:rPr>
              <a:t>Trenowanie modelu</a:t>
            </a:r>
          </a:p>
          <a:p>
            <a:r>
              <a:rPr lang="pl-PL">
                <a:ea typeface="Calibri"/>
                <a:cs typeface="Calibri"/>
              </a:rPr>
              <a:t>Badanie wstępnie wytrenowanego modelu</a:t>
            </a:r>
          </a:p>
          <a:p>
            <a:r>
              <a:rPr lang="pl-PL">
                <a:ea typeface="Calibri"/>
                <a:cs typeface="Calibri"/>
              </a:rPr>
              <a:t>Rozwój modelu</a:t>
            </a:r>
          </a:p>
          <a:p>
            <a:r>
              <a:rPr lang="pl-PL" err="1">
                <a:ea typeface="Calibri"/>
                <a:cs typeface="Calibri"/>
              </a:rPr>
              <a:t>Pruning</a:t>
            </a:r>
            <a:r>
              <a:rPr lang="pl-PL">
                <a:ea typeface="Calibri"/>
                <a:cs typeface="Calibri"/>
              </a:rPr>
              <a:t> / kwantyzacja</a:t>
            </a:r>
          </a:p>
          <a:p>
            <a:r>
              <a:rPr lang="pl-PL">
                <a:ea typeface="Calibri"/>
                <a:cs typeface="Calibri"/>
              </a:rPr>
              <a:t>Porównanie modelu bazowego ze skompresowaną wersją</a:t>
            </a:r>
          </a:p>
          <a:p>
            <a:endParaRPr lang="pl-PL">
              <a:ea typeface="Calibri"/>
              <a:cs typeface="Calibri"/>
            </a:endParaRPr>
          </a:p>
          <a:p>
            <a:endParaRPr lang="pl-P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296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Obraz zawierający tekst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8CDC3267-CD2C-D48C-2DD1-36521FD66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798" y="1580465"/>
            <a:ext cx="8065016" cy="2336622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6DA19CFA-668F-80FF-8547-1A1FEFB9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925" y="401638"/>
            <a:ext cx="10401575" cy="1482627"/>
          </a:xfrm>
        </p:spPr>
        <p:txBody>
          <a:bodyPr/>
          <a:lstStyle/>
          <a:p>
            <a:r>
              <a:rPr lang="pl-PL" b="1">
                <a:ea typeface="Calibri Light"/>
                <a:cs typeface="Calibri Light"/>
              </a:rPr>
              <a:t>Zasada działania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042C7BC-2153-E59D-11A4-DD9CE4ED6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3770890"/>
            <a:ext cx="11585575" cy="3115027"/>
          </a:xfrm>
        </p:spPr>
        <p:txBody>
          <a:bodyPr/>
          <a:lstStyle/>
          <a:p>
            <a:r>
              <a:rPr lang="pl-PL" b="1" err="1">
                <a:ea typeface="+mn-lt"/>
                <a:cs typeface="+mn-lt"/>
              </a:rPr>
              <a:t>Convolution</a:t>
            </a:r>
            <a:r>
              <a:rPr lang="pl-PL" b="1">
                <a:ea typeface="+mn-lt"/>
                <a:cs typeface="+mn-lt"/>
              </a:rPr>
              <a:t> </a:t>
            </a:r>
            <a:r>
              <a:rPr lang="pl-PL" b="1" err="1">
                <a:ea typeface="+mn-lt"/>
                <a:cs typeface="+mn-lt"/>
              </a:rPr>
              <a:t>Layer</a:t>
            </a:r>
            <a:r>
              <a:rPr lang="pl-PL">
                <a:ea typeface="+mn-lt"/>
                <a:cs typeface="+mn-lt"/>
              </a:rPr>
              <a:t> – wyodrębnia cechy (np. krawędzie, tekstury) przy użyciu filtrów.</a:t>
            </a:r>
          </a:p>
          <a:p>
            <a:r>
              <a:rPr lang="pl-PL" b="1" err="1">
                <a:ea typeface="+mn-lt"/>
                <a:cs typeface="+mn-lt"/>
              </a:rPr>
              <a:t>Flatten</a:t>
            </a:r>
            <a:r>
              <a:rPr lang="pl-PL" b="1">
                <a:ea typeface="+mn-lt"/>
                <a:cs typeface="+mn-lt"/>
              </a:rPr>
              <a:t> </a:t>
            </a:r>
            <a:r>
              <a:rPr lang="pl-PL" b="1" err="1">
                <a:ea typeface="+mn-lt"/>
                <a:cs typeface="+mn-lt"/>
              </a:rPr>
              <a:t>Layer</a:t>
            </a:r>
            <a:r>
              <a:rPr lang="pl-PL">
                <a:ea typeface="+mn-lt"/>
                <a:cs typeface="+mn-lt"/>
              </a:rPr>
              <a:t> – „spłaszcza” wynik z warstw </a:t>
            </a:r>
            <a:r>
              <a:rPr lang="pl-PL" err="1">
                <a:ea typeface="+mn-lt"/>
                <a:cs typeface="+mn-lt"/>
              </a:rPr>
              <a:t>konwolucyjnych</a:t>
            </a:r>
            <a:r>
              <a:rPr lang="pl-PL">
                <a:ea typeface="+mn-lt"/>
                <a:cs typeface="+mn-lt"/>
              </a:rPr>
              <a:t> (macierze cech) do wektora jednowymiarowego.</a:t>
            </a:r>
          </a:p>
          <a:p>
            <a:r>
              <a:rPr lang="pl-PL" b="1" err="1">
                <a:ea typeface="+mn-lt"/>
                <a:cs typeface="+mn-lt"/>
              </a:rPr>
              <a:t>Dense</a:t>
            </a:r>
            <a:r>
              <a:rPr lang="pl-PL" b="1">
                <a:ea typeface="+mn-lt"/>
                <a:cs typeface="+mn-lt"/>
              </a:rPr>
              <a:t> </a:t>
            </a:r>
            <a:r>
              <a:rPr lang="pl-PL" b="1" err="1">
                <a:ea typeface="+mn-lt"/>
                <a:cs typeface="+mn-lt"/>
              </a:rPr>
              <a:t>Layer</a:t>
            </a:r>
            <a:r>
              <a:rPr lang="pl-PL" b="1">
                <a:ea typeface="+mn-lt"/>
                <a:cs typeface="+mn-lt"/>
              </a:rPr>
              <a:t> (</a:t>
            </a:r>
            <a:r>
              <a:rPr lang="pl-PL" b="1" err="1">
                <a:ea typeface="+mn-lt"/>
                <a:cs typeface="+mn-lt"/>
              </a:rPr>
              <a:t>Fully</a:t>
            </a:r>
            <a:r>
              <a:rPr lang="pl-PL" b="1">
                <a:ea typeface="+mn-lt"/>
                <a:cs typeface="+mn-lt"/>
              </a:rPr>
              <a:t> </a:t>
            </a:r>
            <a:r>
              <a:rPr lang="pl-PL" b="1" err="1">
                <a:ea typeface="+mn-lt"/>
                <a:cs typeface="+mn-lt"/>
              </a:rPr>
              <a:t>Connected</a:t>
            </a:r>
            <a:r>
              <a:rPr lang="pl-PL" b="1">
                <a:ea typeface="+mn-lt"/>
                <a:cs typeface="+mn-lt"/>
              </a:rPr>
              <a:t>)</a:t>
            </a:r>
            <a:r>
              <a:rPr lang="pl-PL">
                <a:ea typeface="+mn-lt"/>
                <a:cs typeface="+mn-lt"/>
              </a:rPr>
              <a:t> – wykorzystuje te cechy do klasyfikacji obrazu (np. rozpoznania obiektu).</a:t>
            </a:r>
            <a:endParaRPr lang="pl-P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197554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Presentation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Niestandardowy</PresentationFormat>
  <Slides>6</Slides>
  <Notes>0</Notes>
  <HiddenSlides>0</HiddenSlides>
  <ScaleCrop>false</ScaleCrop>
  <HeadingPairs>
    <vt:vector size="4" baseType="variant">
      <vt:variant>
        <vt:lpstr>Motyw</vt:lpstr>
      </vt:variant>
      <vt:variant>
        <vt:i4>2</vt:i4>
      </vt:variant>
      <vt:variant>
        <vt:lpstr>Tytuły slajdów</vt:lpstr>
      </vt:variant>
      <vt:variant>
        <vt:i4>6</vt:i4>
      </vt:variant>
    </vt:vector>
  </HeadingPairs>
  <TitlesOfParts>
    <vt:vector size="8" baseType="lpstr">
      <vt:lpstr>Blank Presentation - Default</vt:lpstr>
      <vt:lpstr>Blank Presentation</vt:lpstr>
      <vt:lpstr>Prezentacja programu PowerPoint</vt:lpstr>
      <vt:lpstr>Problem</vt:lpstr>
      <vt:lpstr>Dataset</vt:lpstr>
      <vt:lpstr>Model</vt:lpstr>
      <vt:lpstr>Pipeline</vt:lpstr>
      <vt:lpstr>Zasada działania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Maciek</dc:creator>
  <cp:revision>4</cp:revision>
  <dcterms:modified xsi:type="dcterms:W3CDTF">2025-11-29T10:21:44Z</dcterms:modified>
</cp:coreProperties>
</file>